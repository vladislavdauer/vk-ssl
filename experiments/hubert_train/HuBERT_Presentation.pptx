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796AD4-849F-4D23-ADE4-08232C2EE3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99910C-4C4D-4467-9DCC-1F29A49CCC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4F24C5-53DE-4280-B2E7-57DA8FE2F9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8AB9FE-D53F-4859-BFA3-41B3B2544F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D4BA9E-A160-420C-9387-37FDFEA7B5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A845AE-9334-4691-A489-835A149DEE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25C83A-5D80-440E-8114-7A9205455B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DEEF18-CF49-445A-B11C-D6CF104DA9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538CCE-7825-49D3-89E3-5FE4AB3585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92BD66-99AC-4196-9D30-2EE5AA3929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B0B2E0-9FC3-407D-AAC9-F49BFA590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9202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1A365D"/>
                </a:solidFill>
                <a:effectLst/>
                <a:uFillTx/>
                <a:latin typeface="Calibri"/>
              </a:rPr>
              <a:t>HuBERT</a:t>
            </a:r>
            <a:endParaRPr lang="ru-RU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31520" y="292608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200" b="0" u="none" strike="noStrike">
                <a:solidFill>
                  <a:srgbClr val="2C5282"/>
                </a:solidFill>
                <a:effectLst/>
                <a:uFillTx/>
                <a:latin typeface="Calibri"/>
              </a:rPr>
              <a:t>Self-Supervised Speech Representation Learning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2C5282"/>
                </a:solidFill>
                <a:effectLst/>
                <a:uFillTx/>
                <a:latin typeface="Calibri"/>
              </a:rPr>
              <a:t>by Masked Prediction of Hidden Units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46634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Calibri"/>
              </a:rPr>
              <a:t>arXiv:2106.07447  ·  Meta AI  ·  2021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Calibri"/>
              </a:rPr>
              <a:t>Wei-Ning Hsu et al.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02920" y="320040"/>
            <a:ext cx="5283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365D"/>
                </a:solidFill>
                <a:effectLst/>
                <a:uFillTx/>
                <a:latin typeface="Calibri"/>
              </a:rPr>
              <a:t>Проблемы Self-supervised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502920" y="1097280"/>
            <a:ext cx="11155320" cy="12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Несколько звуковых единиц в каждом поступаемом слове.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Во время фазы претренировки у нас нет лексикона звуковых единиц.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Все звуковые единицы имеют разную длину без четкой сегментации. 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"/>
          <p:cNvSpPr/>
          <p:nvPr/>
        </p:nvSpPr>
        <p:spPr>
          <a:xfrm>
            <a:off x="502920" y="320040"/>
            <a:ext cx="3529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365D"/>
                </a:solidFill>
                <a:effectLst/>
                <a:uFillTx/>
                <a:latin typeface="Calibri"/>
              </a:rPr>
              <a:t>Hidden-Unit BERT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02920" y="1097280"/>
            <a:ext cx="11155320" cy="21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Оффлайн кластеризация для подготовки выравненных целевых меток для BERT-подобного лосса.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Применение лосса только на замаскированные участки для понимания комбинированных звуков и языка в непрерывной последовательности.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 Полагается не на точное совпадение меток в кластерах, а на согласованность (похожесть).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502920" y="320040"/>
            <a:ext cx="3529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365D"/>
                </a:solidFill>
                <a:effectLst/>
                <a:uFillTx/>
                <a:latin typeface="Calibri"/>
              </a:rPr>
              <a:t>Hidden-Unit </a:t>
            </a:r>
            <a:r>
              <a:rPr lang="en-US" sz="3000" b="1" u="none" strike="noStrike">
                <a:solidFill>
                  <a:srgbClr val="1A365D"/>
                </a:solidFill>
                <a:effectLst/>
                <a:uFillTx/>
                <a:latin typeface="Calibri"/>
              </a:rPr>
              <a:t>BERT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502920" y="1097280"/>
            <a:ext cx="11155320" cy="21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Оффлайн кластеризация для подготовки выравненных целевых меток для BERT-подобного лосса.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Применение лосса только на замаскированные участки для понимания комбинированных звуков и языка в непрерывной последовательности.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9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 Полагается не на точное совпадение меток в кластерах, а на согласованность (похожесть).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6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2B6CB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502920" y="32004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A365D"/>
                </a:solidFill>
                <a:effectLst/>
                <a:uFillTx/>
                <a:latin typeface="Calibri"/>
              </a:rPr>
              <a:t>Архитектура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502920" y="1097280"/>
            <a:ext cx="1115532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CNN waveform encoder: 7 conv layers, downsample ×320 → 20 ms frames @ 16 kHz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Span masking: p = 8% стартов, длина span l =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BERT-style Transformer + projection + code embeddings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Prediction: cosine similarity к embedding кластера, temperature τ = 0.1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800" b="0" u="none" strike="noStrike">
                <a:solidFill>
                  <a:srgbClr val="1A202C"/>
                </a:solidFill>
                <a:effectLst/>
                <a:uFillTx/>
                <a:latin typeface="Calibri"/>
              </a:rPr>
              <a:t>•  Похожа на wav2vec 2.0, но loss — predictive CE, а не contrastive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Table 2"/>
          <p:cNvGraphicFramePr/>
          <p:nvPr/>
        </p:nvGraphicFramePr>
        <p:xfrm>
          <a:off x="502920" y="3977640"/>
          <a:ext cx="11155320" cy="1463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834640"/>
                <a:gridCol w="2834640"/>
              </a:tblGrid>
              <a:tr h="365760">
                <a:tc>
                  <a:txBody>
                    <a:bodyPr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BASE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LARGE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X-LARGE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Layers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48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Dim / Heads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768 / 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1024 / 16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1280 / 16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95M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317M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A202C"/>
                          </a:solidFill>
                          <a:effectLst/>
                          <a:uFillTx/>
                          <a:latin typeface="Calibri"/>
                        </a:rPr>
                        <a:t>~1B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LibreOffice/26.2.4.2$Linux_X86_64 LibreOffice_project/3346a99e6b841765b75a9b29714a5b95c6761ce3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2026-07-27T14:26:04Z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